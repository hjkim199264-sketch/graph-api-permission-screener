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M365 관리자 권한 분류 및 등급 기준 수립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관리자 역할 요청에 대한 신속하고 일관된 대응 체계 수립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176" y="1188720"/>
            <a:ext cx="173736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관리자 역할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517904"/>
            <a:ext cx="852220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212121"/>
                </a:solidFill>
                <a:latin typeface="맑은 고딕"/>
              </a:rPr>
              <a:t> 관리자 역할 : M365·Entra 관리 센터에서 특정 관리 작업을 수행할 수 있도록 부여하는 사전 정의 권한 집합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121"/>
                </a:solidFill>
                <a:latin typeface="맑은 고딕"/>
              </a:rPr>
              <a:t> 현황 : Microsoft Entra 기본 제공 역할 136종. 역할마다 영향 범위와 위험도가 크게 상이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121"/>
                </a:solidFill>
                <a:latin typeface="맑은 고딕"/>
              </a:rPr>
              <a:t> 문제 : Graph API와 달리 관리자 역할은 판정 기준이 없어 요청 건마다 담당자 재량으로 승인 여부를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2450592"/>
            <a:ext cx="237744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Microsoft 공식 보안 지침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3464" y="2743200"/>
          <a:ext cx="857707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33872"/>
              </a:tblGrid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권장 사항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중요한 이유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가능한 한 적은 수의 전역 관리자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전역 관리자는 조직 설정과 대부분의 데이터에 거의 무제한 접근이 가능. 계정 잠금 대비 권한 있는 인증 관리자 최소 1명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최소 허용 역할 할당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작업 완료에 필요한 접근 권한만 부여. 암호 재설정만 필요하면 전역 관리자가 아닌 암호 관리자·기술 지원팀 관리자를 할당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관리자 MFA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관리자는 사용자 데이터에 접근 가능. 암호가 유출되어도 두 번째 인증 없이는 로그인 불가하도록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65176" y="4526280"/>
            <a:ext cx="201168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추진 목표 및 산출물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3464" y="4818888"/>
          <a:ext cx="8577072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33872"/>
              </a:tblGrid>
              <a:tr h="310896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산출물 / 체계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관리자 역할 분류 등급 기준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① 3기준 × 2값 = 8조합 → A1/A2/A3 3단계 분류  ② 역할별 위험도·핵심 리스크 명세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요청 검토 / 승인 프로세스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① 등급별 승인 절차 및 R&amp;R 정의  ② 보안 검토 대상 기준 명확화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할당 이력 및 사후 관리 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① PIM 기반 적격 할당 운영  ② 분기별 전수 조사 및 미사용 할당 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1752" y="635508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B707B"/>
                </a:solidFill>
                <a:latin typeface="맑은 고딕"/>
              </a:rPr>
              <a:t>* 사내 Graph API 권한 등급 체계(G1/G2/G3)와 동일한 '3기준 × 2값 = 8조합 → 3등급' 구조로 설계하여 판정 방식의 일관성 확보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6B707B"/>
                </a:solidFill>
                <a:latin typeface="맑은 고딕"/>
              </a:rPr>
              <a:t>* 출처 : Microsoft 365 관리 센터 관리자 역할 정보 / Microsoft Entra 기본 제공 역할 (learn.microsoft.com)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관리자 역할 등급 분류 기준 (1/2) — 3가지 판정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관리자 역할을 ①얼마나 넓게 ②무엇을 하며 ③민감 자산에 닿는가 3가지 기준으로 분류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176" y="1170432"/>
            <a:ext cx="219456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1차 분류 — 3기준 × 2값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3464" y="1444752"/>
          <a:ext cx="8577072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691640"/>
                <a:gridCol w="3246120"/>
                <a:gridCol w="2404872"/>
              </a:tblGrid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예시 역할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① 영향 범위
(Scope)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S. 서비스·기능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단일 제품 또는 단일 기능 영역에만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Exchange 관리자, Teams 관리자, 라이선스 관리자, 청구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T. 테넌트 전역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디렉터리 전반(사용자·그룹·역할·앱·정책·도메인) 또는 전 서비스 교차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전역 관리자, 사용자 관리자, 보안 관리자, 전역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② 작업 유형
(Operation)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R. 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조회·모니터링·보고만 가능. 설정 변경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전역 읽기 권한자, 보안 읽기 권한자, 보고서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W. 구성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생성·수정·삭제·정책 변경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대부분의 '○○ 관리자' 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③ 민감 자산 접근
(Sensitive)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N.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권한 상승 경로도 콘텐츠 접근 경로도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라이선스 관리자, Teams 관리자, 프린터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P.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(a) 권한 상승 : 역할 할당 · 자격 증명/MFA 변경 · 앱 권한 동의 · 조건부 액세스/인증 정책 · 도메인/페더레이션 변경
(b) 콘텐츠 접근 : 메일 · 파일 · 채팅 · 문서 원문 열람 또는 열람 위임 설정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전역 관리자, 사용자 관리자, Exchange 관리자, SharePoint 관리자, Intune 관리자, 준수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65176" y="4828032"/>
            <a:ext cx="265176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민감 자산 접근(P) 판정 사유 코드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3464" y="5102352"/>
          <a:ext cx="85770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191256"/>
                <a:gridCol w="1097280"/>
                <a:gridCol w="3191256"/>
              </a:tblGrid>
              <a:tr h="20116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사유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사유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ESC-ROLE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역할 할당·PIM 관리 가능 (권한 상승)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ESC-DOMAIN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도메인·페더레이션 설정 변경 가능 (신뢰 체계 훼손)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ESC-CRED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타 계정의 암호·MFA 등 인증 정보 변경 가능 (계정 탈취 경로)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ESC-DEVICE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디바이스에 스크립트·구성 배포 가능 (엔드포인트 장악)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ESC-APP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앱 등록·앱 권한 동의 부여 가능 (권한 상승)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메일·파일·채팅·문서 원문 접근 또는 접근 위임 설정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ESC-POLICY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조건부 액세스·인증 정책 변경 가능 (보안 통제 무력화)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CONTENT-EDISC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eDiscovery·콘텐츠 검색으로 전사 데이터 열람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1752" y="632764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6B707B"/>
                </a:solidFill>
                <a:latin typeface="맑은 고딕"/>
              </a:rPr>
              <a:t>* 위 두 경로(권한 상승 / 콘텐츠 접근) 중 하나라도 해당하면 P로 판정한다.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관리자 역할 등급 분류 기준 (2/2) — 8조합 → 3등급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3기준의 8가지 조합(2×2×2)을 A1 / A2 / A3 3개 등급으로 매핑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176" y="1188720"/>
            <a:ext cx="182880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8조합 → 등급 매핑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3464" y="1481328"/>
          <a:ext cx="8577071" cy="201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17320"/>
                <a:gridCol w="914400"/>
                <a:gridCol w="914400"/>
                <a:gridCol w="658368"/>
                <a:gridCol w="3941063"/>
              </a:tblGrid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민감 접근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서비스·기능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 한정 · 읽기 전용 · 민감 접근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 · 읽기 전용 · 민감 접근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서비스·기능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구성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 한정 · 구성 변경 · 민감 접근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구성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 · 구성 변경 · 민감 접근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SRP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서비스·기능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 한정 · 읽기 전용 · 민감 접근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TRP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 · 읽기 전용 · 민감 접근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서비스·기능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구성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서비스 한정 · 구성 변경 · 민감 접근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구성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5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5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전역 · 구성 변경 · 민감 접근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1752" y="3566160"/>
            <a:ext cx="8503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3261E"/>
                </a:solidFill>
                <a:latin typeface="맑은 고딕"/>
              </a:rPr>
              <a:t>핵심 : 민감 자산 접근(P)이 있으면 범위·작업과 무관하게 A3. Graph API 기준에서 'Delegated면 무조건 G1'이 등급을 결정했듯, 관리자 역할은 '민감 자산 접근'이 등급을 결정한다.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3950208"/>
            <a:ext cx="201168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등급별 정의 및 승인 절차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3464" y="4224528"/>
          <a:ext cx="85770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58368"/>
                <a:gridCol w="2432304"/>
                <a:gridCol w="1417320"/>
                <a:gridCol w="1298448"/>
                <a:gridCol w="1188720"/>
                <a:gridCol w="576072"/>
              </a:tblGrid>
              <a:tr h="502920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등급 / 구분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위험도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승인 절차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보안 검토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PIM / 할당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소요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1B7F3B"/>
                          </a:solidFill>
                          <a:latin typeface="맑은 고딕"/>
                        </a:rPr>
                        <a:t>A1
제한적 조회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🟢 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단일 기능 영역의 읽기 전용. 조직 데이터·설정을 변경할 수 없다.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운영그룹 자체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보안 검토 생략 (사후 이력 관리만)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상시 할당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1영업일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B26A00"/>
                          </a:solidFill>
                          <a:latin typeface="맑은 고딕"/>
                        </a:rPr>
                        <a:t>A2
서비스 운영 / 전역 조회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🟡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단일 서비스의 구성을 변경하거나, 테넌트 전반을 조회할 수 있다. 권한 상승·콘텐츠 열람 경로는 없다.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운영그룹 주관 + 정보보호그룹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보안 검토 공유 (의견 수렴)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PIM 등록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3~5영업일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50" b="1">
                          <a:solidFill>
                            <a:srgbClr val="B3261E"/>
                          </a:solidFill>
                          <a:latin typeface="맑은 고딕"/>
                        </a:rPr>
                        <a:t>A3
특권 / 전역 변경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🔴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권한 상승 경로 또는 사용자 콘텐츠 접근 경로를 가지거나, 테넌트 전역 구성을 변경할 수 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정보보호그룹 보안 검토 필수, 필요시 Committee 상정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보안 검토 필수 (승인 없이는 부여 불가)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PIM 필수 · 상시 할당 금지 · MFA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50" b="0">
                          <a:solidFill>
                            <a:srgbClr val="212121"/>
                          </a:solidFill>
                          <a:latin typeface="맑은 고딕"/>
                        </a:rPr>
                        <a:t>2주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1752" y="6382512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B707B"/>
                </a:solidFill>
                <a:latin typeface="맑은 고딕"/>
              </a:rPr>
              <a:t>판정 결과 분포 (총 136개 역할) : A3 65건 (47%) · A2 58건 (42%) · A1 13건 (9%)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6B707B"/>
                </a:solidFill>
                <a:latin typeface="맑은 고딕"/>
              </a:rPr>
              <a:t>* A3 비중이 높은 것은 관리자 역할 다수가 구조적으로 권한 상승 또는 콘텐츠 접근 경로를 갖기 때문이며, 이는 관리자 역할 요청을 Graph API보다 엄격히 통제해야 하는 근거가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관리자 권한 신청 및 승인 프로세스 (案)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등급에 따라 승인 절차와 할당 방식을 차등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176" y="1188720"/>
            <a:ext cx="164592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진행 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517904"/>
            <a:ext cx="1371600" cy="566928"/>
          </a:xfrm>
          <a:prstGeom prst="roundRect">
            <a:avLst/>
          </a:prstGeom>
          <a:solidFill>
            <a:srgbClr val="E8ECF6"/>
          </a:solidFill>
          <a:ln>
            <a:solidFill>
              <a:srgbClr val="C8C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2761"/>
                </a:solidFill>
                <a:latin typeface="맑은 고딕"/>
              </a:rPr>
              <a:t>1. 권한 요청 접수</a:t>
            </a:r>
          </a:p>
          <a:p>
            <a:pPr algn="ctr"/>
            <a:r>
              <a:rPr sz="700">
                <a:solidFill>
                  <a:srgbClr val="6B707B"/>
                </a:solidFill>
                <a:latin typeface="맑은 고딕"/>
              </a:rPr>
              <a:t>요청자 / DX기획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517904"/>
            <a:ext cx="1371600" cy="566928"/>
          </a:xfrm>
          <a:prstGeom prst="roundRect">
            <a:avLst/>
          </a:prstGeom>
          <a:solidFill>
            <a:srgbClr val="E8ECF6"/>
          </a:solidFill>
          <a:ln>
            <a:solidFill>
              <a:srgbClr val="C8C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2761"/>
                </a:solidFill>
                <a:latin typeface="맑은 고딕"/>
              </a:rPr>
              <a:t>2. 역할 등급 판정</a:t>
            </a:r>
          </a:p>
          <a:p>
            <a:pPr algn="ctr"/>
            <a:r>
              <a:rPr sz="700">
                <a:solidFill>
                  <a:srgbClr val="6B707B"/>
                </a:solidFill>
                <a:latin typeface="맑은 고딕"/>
              </a:rPr>
              <a:t>DX운영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968" y="1517904"/>
            <a:ext cx="1371600" cy="566928"/>
          </a:xfrm>
          <a:prstGeom prst="roundRect">
            <a:avLst/>
          </a:prstGeom>
          <a:solidFill>
            <a:srgbClr val="E8ECF6"/>
          </a:solidFill>
          <a:ln>
            <a:solidFill>
              <a:srgbClr val="C8C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2761"/>
                </a:solidFill>
                <a:latin typeface="맑은 고딕"/>
              </a:rPr>
              <a:t>3. 보안 검토</a:t>
            </a:r>
          </a:p>
          <a:p>
            <a:pPr algn="ctr"/>
            <a:r>
              <a:rPr sz="700">
                <a:solidFill>
                  <a:srgbClr val="6B707B"/>
                </a:solidFill>
                <a:latin typeface="맑은 고딕"/>
              </a:rPr>
              <a:t>정보보호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517904"/>
            <a:ext cx="1371600" cy="566928"/>
          </a:xfrm>
          <a:prstGeom prst="roundRect">
            <a:avLst/>
          </a:prstGeom>
          <a:solidFill>
            <a:srgbClr val="E8ECF6"/>
          </a:solidFill>
          <a:ln>
            <a:solidFill>
              <a:srgbClr val="C8C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2761"/>
                </a:solidFill>
                <a:latin typeface="맑은 고딕"/>
              </a:rPr>
              <a:t>4. IR 결재</a:t>
            </a:r>
          </a:p>
          <a:p>
            <a:pPr algn="ctr"/>
            <a:r>
              <a:rPr sz="700">
                <a:solidFill>
                  <a:srgbClr val="6B707B"/>
                </a:solidFill>
                <a:latin typeface="맑은 고딕"/>
              </a:rPr>
              <a:t>요청자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4" y="1517904"/>
            <a:ext cx="1371600" cy="566928"/>
          </a:xfrm>
          <a:prstGeom prst="roundRect">
            <a:avLst/>
          </a:prstGeom>
          <a:solidFill>
            <a:srgbClr val="E8ECF6"/>
          </a:solidFill>
          <a:ln>
            <a:solidFill>
              <a:srgbClr val="C8C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2761"/>
                </a:solidFill>
                <a:latin typeface="맑은 고딕"/>
              </a:rPr>
              <a:t>5. 역할 할당 (PIM)</a:t>
            </a:r>
          </a:p>
          <a:p>
            <a:pPr algn="ctr"/>
            <a:r>
              <a:rPr sz="700">
                <a:solidFill>
                  <a:srgbClr val="6B707B"/>
                </a:solidFill>
                <a:latin typeface="맑은 고딕"/>
              </a:rPr>
              <a:t>M365 운영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1517904"/>
            <a:ext cx="1371600" cy="566928"/>
          </a:xfrm>
          <a:prstGeom prst="roundRect">
            <a:avLst/>
          </a:prstGeom>
          <a:solidFill>
            <a:srgbClr val="E8ECF6"/>
          </a:solidFill>
          <a:ln>
            <a:solidFill>
              <a:srgbClr val="C8C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2761"/>
                </a:solidFill>
                <a:latin typeface="맑은 고딕"/>
              </a:rPr>
              <a:t>6. 사후 모니터링</a:t>
            </a:r>
          </a:p>
          <a:p>
            <a:pPr algn="ctr"/>
            <a:r>
              <a:rPr sz="700">
                <a:solidFill>
                  <a:srgbClr val="6B707B"/>
                </a:solidFill>
                <a:latin typeface="맑은 고딕"/>
              </a:rPr>
              <a:t>DX운영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" y="2286000"/>
            <a:ext cx="2377440" cy="237744"/>
          </a:xfrm>
          <a:prstGeom prst="roundRect">
            <a:avLst/>
          </a:prstGeom>
          <a:solidFill>
            <a:srgbClr val="E8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등급별 차등 적용 사항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83464" y="2578608"/>
          <a:ext cx="857707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2194560"/>
                <a:gridCol w="2423160"/>
                <a:gridCol w="2788920"/>
              </a:tblGrid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A1 🟢 낮음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A2 🟡 중간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A3 🔴 높음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보안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생략 (사후 이력 관리)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정보보호그룹 공유 · 의견 수렴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정보보호그룹 검토 필수
필요시 Committee 상정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할당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상시 할당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PIM 적격 할당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PIM 적격 할당 필수
상시(Active) 할당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활성화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MFA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MFA + 승인자 승인 + 사유 기록
최대 활성화 시간 8시간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할당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1년 (연장 심사)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6개월 (연장 심사)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3개월 (연장 심사)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계정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일반 계정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일반 계정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관리자 전용 계정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분기 전수 조사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분기 전수 조사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맑은 고딕"/>
                        </a:rPr>
                        <a:t>분기 전수 조사 + 활성화 로그 상시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1752" y="553212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212121"/>
                </a:solidFill>
                <a:latin typeface="맑은 고딕"/>
              </a:rPr>
              <a:t>운영 원칙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12121"/>
                </a:solidFill>
                <a:latin typeface="맑은 고딕"/>
              </a:rPr>
              <a:t>· 전역 관리자는 2~4명 이내로 제한하고 PIM 적격 할당으로 운영. 계정 잠금 대비 권한 있는 인증 관리자 최소 1명 유지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12121"/>
                </a:solidFill>
                <a:latin typeface="맑은 고딕"/>
              </a:rPr>
              <a:t>· 요청 시 '수행해야 할 작업'을 먼저 확인하고, 그 작업에 필요한 최소 권한 역할을 역제안한다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12121"/>
                </a:solidFill>
                <a:latin typeface="맑은 고딕"/>
              </a:rPr>
              <a:t>· 분기별 전수 조사로 미사용 할당을 회수하고, 할당 기간 만료 시 자동 회수 후 재심사한다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A3 높음 (특권 / 전역 변경)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권한 상승 경로 또는 사용자 콘텐츠 접근 경로를 가지거나, 테넌트 전역 구성을 변경할 수 있다.  ·  총 65건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AI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AI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Copilot·AI 에이전트 전반 관리. 앱·에이전트에 테넌트 전체 동의를 부여할 수 있어 권한 상승 경로 (Graph 앱 권한은 제외)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B2C IEF 키 세트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B2C IEF Keyset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Identity Experience Framework의 페더레이션·암호화 비밀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Dynamics 365 Business Central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Dynamics 365 Business Central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Business Central 환경의 모든 관리 작업 수행. 재무·업무 데이터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Dynamics 365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Dynamics 365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Dynamics 365 Online 전체 관리. 업무 데이터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 사용자 사서함 관리. 삭제 항목 복구, '다른 이름으로 보내기'·'대신 보내기' 위임 설정으로 타인 메일에 접근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받는 사람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Recipient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Online 받는 사람 생성·수정. 사서함 속성 변경을 통한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백업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Backup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Exchange 콘텐츠 백업 및 세분화된 복원. 메일 콘텐츠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Identity Governance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Identity Governance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액세스 패키지·액세스 검토 등 ID 거버넌스 전반 관리. 접근 권한 부여 흐름을 좌우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Insights 분석가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Insights Analyst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Insights 분석 기능 사용. 임직원 활동 패턴 데이터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Intune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Intune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Intune 전반 관리. 관리 디바이스에 스크립트·구성을 배포할 수 있어 엔드포인트 장악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365 백업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365 Backup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M365 백업·복원 관리. 백업본을 통한 콘텐츠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Entra 조인 디바이스 로컬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Entra Joined Device Local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모든 Entra 조인 디바이스의 로컬 관리자 그룹에 추가됨. 엔드포인트 전체에 로컬 관리자 권한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Graph Data Connect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Graph Data Connect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Graph Data Connect 설정 및 앱 권한 부여 요청 승인. 대량 M365 데이터를 Azure로 반출하는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Power Platform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Power Platform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Power Apps·Power Automate·Power BI·Fabric 및 DLP 전체 관리. 환경 관리 권한을 통해 Dataverse 데이터에 접근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워크로드 콘텐츠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Workload Content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포털에서 M365 데이터를 관리하거나 제거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A3 높음 (특권 / 전역 변경)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권한 상승 경로 또는 사용자 콘텐츠 접근 경로를 가지거나, 테넌트 전역 구성을 변경할 수 있다.  ·  총 65건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워크로드 콘텐츠 기록기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Workload Content 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포털에서 M365 데이터 조회 및 편집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워크로드 콘텐츠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Workload Content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포털에서 M365 데이터 조회 가능. 읽기 전용이나 콘텐츠 원문에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고급 관리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Advanced Management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고급 관리 전반. 파일·폴더 이름/경로/URL 조회 및 권한 제거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 사이트·사이트 모음 관리. 자신을 사이트 관리자로 지정해 모든 문서에 접근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백업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Backup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SharePoint·OneDrive 백업 및 복원. 문서 콘텐츠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Glint 테넌트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Glint Tenant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Glint 설정 관리. 임직원 설문·피드백 데이터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Windows 365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Windows 365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클라우드 PC 프로비저닝 및 전반 관리. 사용자 데스크톱 환경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고객 Lockbox 액세스 승인자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Customer Lockbox Access Approver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지원의 고객 데이터 접근 요청을 승인. 승인 시 외부인이 조직 데이터에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고객 위임 관리자 관계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Customer Delegated Admin Relationship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고객 테넌트의 GDAP 관계 전반 관리. 파트너 위임 관리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권한 관리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Permissions Management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자격 관리(entitlement management)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권한 있는 역할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Privileged Role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모든 Entra 역할 할당과 PIM 전체를 관리. 스스로 전역 관리자를 부여할 수 있어 사실상 전역 관리자와 동급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권한 있는 인증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Privileged Authentication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 관리자를 포함한 모든 사용자의 인증 방법을 재설정 가능. 관리자 계정 탈취의 직접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규정 준수 데이터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Compliance Data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규정 준수 콘텐츠 생성·관리. 전사 데이터 검색·보존 대상 지정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그룹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Groups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모든 그룹 생성·편집·삭제 및 그룹 정책 관리. 그룹 멤버십 변경으로 접근 권한이 간접 확대될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기술 지원팀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Helpdesk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비관리자 암호 재설정 및 강제 로그아웃. 지원 업무 명목의 광범위한 계정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A3 높음 (특권 / 전역 변경)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권한 상승 경로 또는 사용자 콘텐츠 접근 경로를 가지거나, 테넌트 전역 구성을 변경할 수 있다.  ·  총 65건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도메인 이름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Domain Name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클라우드·온프레미스 도메인 관리. 도메인 검증을 통한 신뢰 탈취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디렉터리 동기화 계정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Directory Synchronization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Connect 서비스 전용. 사람에게 절대 할당하지 말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디렉터리 작성기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Directory 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기본 디렉터리 정보 읽기·쓰기. 서비스 계정 용도이며 사용자 직접 할당 비권장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마이그레이션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365 Migration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Google Drive·Box·Dropbox·Slack 등에서 M365로 콘텐츠 마이그레이션. 이관 콘텐츠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Security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Defender·Entra ID 보호·Purview 등 보안 구성 전반을 변경. 보안 정책·경보 설정을 무력화할 수 있는 특권 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연산자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Security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이벤트 관리 및 ID 격리 조치(계정 차단·세션 해지) 수행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User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계정 생성·비활성화, 비관리자 암호 재설정, 그룹 관리. 계정 탈취 및 접근 권한 확대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수명 주기 워크플로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Lifecycle Workflow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입·퇴사 자동화 워크플로 관리. 계정 생성·권한 부여를 자동 실행할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암호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Password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비관리자 및 암호 관리자의 암호를 재설정 가능. 계정 탈취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애플리케이션 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설정과 무관하게 앱 등록 생성 가능. 무단 앱을 통한 데이터 반출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애플리케이션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앱 등록·엔터프라이즈 앱 전체 관리 및 위임/애플리케이션 권한 동의 부여 가능 (Graph 앱 권한 제외). 권한 상승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에이전트 ID 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Agent Identity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에이전트 ID 청사진 및 보안 주체 생성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에이전트 ID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Agent Identity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에이전트 ID·청사진·보안 주체 전체 관리. AI 에이전트에 권한을 부여하는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외부 ID 공급자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External Identity Provider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직접 페더레이션용 ID 공급자 구성. 외부 IdP를 통한 우회 로그인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인사이트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Insights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M365 Insights 앱 관리자 권한. 임직원 협업·활동 데이터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A3 높음 (특권 / 전역 변경)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권한 상승 경로 또는 사용자 콘텐츠 접근 경로를 가지거나, 테넌트 전역 구성을 변경할 수 있다.  ·  총 65건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인증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Authentication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비관리자 사용자의 MFA·인증 방법을 조회·재설정 가능. MFA 우회를 통한 계정 탈취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인증 정책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Authentication Policy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MFA 설정·인증 방법 정책·암호 보호 정책 변경 가능. 조직 전체 인증 통제를 약화시킬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인증 확장성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Authentication Extensibility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지정 인증 확장을 생성·관리. 외부 시스템으로 인증 흐름을 우회시킬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인증 확장성 암호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Authentication Extensibility Password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지정 인증의 암호 제출 이벤트를 트리거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Global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전체에 무제한 권한. 모든 사용자·관리자 암호 재설정, 모든 설정 변경, Azure 구독 권한 상승까지 가능한 최고 위험 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 보안 액세스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Global Secure Access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Global Secure Internet/Private Access 전반 관리. 네트워크 접근 경로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조건부 액세스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Conditional Access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조건부 액세스 정책 전체를 관리. MFA·디바이스 준수 요구를 해제해 전사 보안 통제를 무력화할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준수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Compliance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Purview 규정 준수 구성·보고 관리. DLP·보존·eDiscovery 설정을 통해 전사 콘텐츠에 접근할 수 있는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클라우드 디바이스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Cloud Device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ID 디바이스 관리 및 BitLocker 키 조회 가능. 디바이스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클라우드 애플리케이션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Cloud Application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앱 프록시를 제외한 앱 등록·엔터프라이즈 앱 관리 및 권한 동의 부여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관계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Tenant Governance Relationship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거버넌스 관계 시작·종료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Tenant Governance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서비스 전체 기능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작성자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Tenant Creator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신규 Entra / B2C 테넌트 생성 가능. 관리 사각지대 테넌트 생성 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정의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Definition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지정 보안 특성의 정의를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프로비저닝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Provisioning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앱의 사용자 지정 보안 특성 프로비저닝 구성을 변경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A3 높음 (특권 / 전역 변경)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권한 상승 경로 또는 사용자 콘텐츠 접근 경로를 가지거나, 테넌트 전역 구성을 변경할 수 있다.  ·  총 65건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할당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Assignment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개체에 사용자 지정 보안 특성 할당. 특성 기반 접근 정책에 영향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파트너 계층1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Partner Tier1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내부 전용. 일반 사용 금지 (Do not 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파트너 계층2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Partner Tier2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내부 전용. 일반 사용 금지 (Do not 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패브릭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Fabric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Fabric·Power BI 전체 관리 기능 및 감사 검토. 작업 영역 데이터 접근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하이브리드 ID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Hybrid Identity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3261E"/>
                          </a:solidFill>
                          <a:latin typeface="맑은 고딕"/>
                        </a:rPr>
                        <a:t>A3★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AD-Entra 클라우드 프로비저닝 및 페더레이션 설정 관리. 온프레미스 신뢰 체계 훼손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A2 중간 (서비스 운영 / 전역 조회)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단일 서비스의 구성을 변경하거나, 테넌트 전반을 조회할 수 있다. 권한 상승·콘텐츠 열람 경로는 없다.  ·  총 58건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AI 리더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AI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A2★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Copilot·AI 에이전트 전반 및 에이전트 ID 조회. 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Azure DevOps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Azure DevOps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Azure DevOps 정책·설정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Azure Information Protection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Azure Information Protection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민감도 레이블·보호 정책 관리. 보호 정책 변경으로 문서 암호화가 해제될 수 있어 상향 검토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B2C IEF 정책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B2C IEF Policy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Identity Experience Framework 트러스트 프레임워크 정책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Cloud App Security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Cloud App Security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Defender for Cloud Apps 전반 관리. 세션 정책·앱 차단 설정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Desktop Analytics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Desktop Analytics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데스크톱 관리 도구 및 서비스 접근·관리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Dragon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Dragon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Dragon 관리 센터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Edge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Edge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Edge의 Internet Explorer 모드 사이트 목록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Backup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Backup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Entra 백업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IoT 디바이스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IoT Device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IoT 디바이스 프로비저닝·수명주기·인증서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Kaizala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Kaizala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Kaizala 설정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하드웨어 보증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Hardware Warranty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하드웨어 보증 청구·자격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Office 앱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Office Apps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Office 클라우드 정책 관리, Office 스크립트 설정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People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People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 사용자의 프로필 사진·대명사·이름 발음·프로필 카드 설정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Embedded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Embedded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SharePoint Embedded 컨테이너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A2 중간 (서비스 운영 / 전역 조회)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단일 서비스의 구성을 변경하거나, 테넌트 전반을 조회할 수 있다. 권한 상승·콘텐츠 열람 경로는 없다.  ·  총 58건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서비스 전반 관리. 모임·페더레이션·조직 전체 설정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디바이스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Device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인증 디바이스 관리 작업 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외부 공동 작업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External Collaborations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외부 공동 작업 정책·설정 관리. 외부 조직과의 통신 허용 범위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전화 통신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Telephony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음성·전화 기능 관리 및 문제 해결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통신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Communications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통화·모임 기능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Virtual Visits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Virtual Visits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Virtual Visits 정보·메트릭 관리 및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Goals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Goals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Goals 전반 및 구성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Pulse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Pulse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Pulse 앱 설정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Windows 업데이트 배포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Windows Update Deployment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Windows Update 배포 전반 생성·관리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Yammer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Yammer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Engage(Yammer) 서비스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검색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Search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Search 구성 및 검색 결과 콘텐츠 전체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검색 편집기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Search Editor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북마크·Q&amp;A 등 편집 콘텐츠 생성·관리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게스트 초대자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Guest Inviter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외부 게스트 사용자 초대 가능. 외부인 유입 통제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공격 시뮬레이션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Attack Simulation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피싱 시뮬레이션 캠페인 생성·관리. 실제 사용자 대상 메일 발송이 수반됨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공격 페이로드 작성자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Attack Payload Author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공격 시뮬레이션 페이로드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A2 중간 (서비스 운영 / 전역 조회)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단일 서비스의 구성을 변경하거나, 테넌트 전반을 조회할 수 있다. 권한 상승·콘텐츠 열람 경로는 없다.  ·  총 58건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네트워크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Network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네트워크 위치 관리 및 엔터프라이즈 네트워크 설계 인사이트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디렉터리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Directory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기본 디렉터리 정보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라이선스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License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청구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사용자·그룹 라이선스 할당·제거 및 사용 위치 편집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Security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A2★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Defender·ID 보호·PIM·로그인/감사 로그·Purview 보안 정보 조회. 읽기 전용이나 보안 태세 전반이 노출됨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비즈니스용 Skype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Skype for Business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비즈니스용 Skype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프로필 관리자 (People Manager)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People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조직 전반의 사용자 프로필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서비스 지원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Service Support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서비스 요청 관리, 메시지 센터 조회, 서비스 상태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에이전트 레지스트리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Agent Registry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ID 에이전트 레지스트리 서비스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외부 ID 사용자 흐름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External ID User Flow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외부 ID 사용자 흐름 생성·관리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외부 ID 사용자 흐름 특성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External ID User Flow Attribute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흐름에서 사용하는 특성 스키마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위치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Places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Places 서비스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Global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A2★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 관리자가 볼 수 있는 모든 관리 기능·설정을 조회. 변경은 불가하나 M365·Entra 전반의 광범위한 정보가 노출됨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조직 데이터 원본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Organizational Data Source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M365로 수집되는 조직 데이터 원본 설정·관리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조직 메시지 승인자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Organizational Message Approver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 직원 대상 조직 메시지 검토·승인·거부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조직 메시지 작성자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Organizational Message 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제품 화면에 표시되는 조직 메시지 작성·게시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A2 중간 (서비스 운영 / 전역 조회)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단일 서비스의 구성을 변경하거나, 테넌트 전반을 조회할 수 있다. 권한 상승·콘텐츠 열람 경로는 없다.  ·  총 58건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조직 브랜딩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Organization Branding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로그인 화면 등 조직 브랜딩 관리. 피싱 유사 화면 구성 우려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지식 관리자 (Knowledge 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Knowledge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지식·학습 등 인텔리전트 기능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지식 매니저 (Knowledge Manager)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Knowledge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토픽·지식 생성·관리·승격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청구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Billing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청구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구매·구독·서비스 요청 관리. 비용 발생 및 신규 서비스 활성화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관계 판독기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Tenant Governance Relationship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관계 및 관련 개체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판독기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Tenant Governance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테넌트 거버넌스 데이터 전체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로그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Log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보안 및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지정 보안 특성 관련 감사 로그 조회 및 진단 설정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정의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Definition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지정 보안 특성 정의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프로비저닝 판독기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Provisioning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A2★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앱의 사용자 지정 보안 특성 프로비저닝 구성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할당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Assignment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개체의 사용자 지정 보안 특성 값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프린터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Printer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프린터 및 프린터 커넥터 전반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프린터 기술자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Printer Technician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프린터 등록·해제 및 상태 업데이트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확장 디렉터리 사용자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Extended Directory User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B26A00"/>
                          </a:solidFill>
                          <a:latin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EF3E2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확장 디렉터리의 외부 사용자 프로필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18872"/>
            <a:ext cx="8924544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[참고] 관리자 역할 등급 분류 — A1 낮음 (제한적 조회)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13232"/>
            <a:ext cx="8522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맑은 고딕"/>
              </a:rPr>
              <a:t>단일 기능 영역의 읽기 전용. 조직 데이터·설정을 변경할 수 없다.  ·  총 13건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1088136"/>
            <a:ext cx="8522208" cy="9525"/>
          </a:xfrm>
          <a:prstGeom prst="rect">
            <a:avLst/>
          </a:prstGeom>
          <a:solidFill>
            <a:srgbClr val="C8C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464" y="1225296"/>
          <a:ext cx="8577071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874519"/>
                <a:gridCol w="658368"/>
                <a:gridCol w="502920"/>
                <a:gridCol w="502920"/>
                <a:gridCol w="3465576"/>
              </a:tblGrid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역할명 (한글)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영문 역할명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범주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핵심 리스크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Backup 판독기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Entra Backup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Entra 백업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Insights 비즈니스 리더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Insights Business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Viva Insights 대시보드·인사이트 조회 및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하드웨어 보증 전문가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Hardware Warranty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디바이스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Microsoft 하드웨어 보증 청구 생성·조회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관리 센터 전체 조회 (변경 불가)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통신 지원 엔지니어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Communications Support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고급 도구로 Teams 통신 문제 해결. 통화 상세 기록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통신 지원 전문가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Teams Communications Support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공동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기본 도구로 Teams 통신 문제 해결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메시지 센터 개인 정보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Message Center Privacy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메시지 센터의 개인정보·보안 메시지 조회. 전역 관리자와 함께 데이터 개인정보 메시지 열람 권한 보유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메시지 센터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Message Center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메시지 센터 알림 조회 및 Entra 사용자·그룹 읽기 전용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보고서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Reports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 현황·활동·로그인 보고서 조회. 개인별 활동 데이터가 포함될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 요약 보고서 읽기 권한자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Usage Summary Reports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 요약 보고서 및 채택 점수 조회 (개인 식별 정보 제외)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경험 성공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User Experience Success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환경 인사이트·채택 점수·메시지 센터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전역 보안 액세스 로그 판독기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Global Secure Access Log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네트워크 트래픽 로그 읽기 전용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특성 로그 판독기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Attribute Log 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읽기 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SRN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ctr"/>
                      <a:r>
                        <a:rPr sz="700" b="1">
                          <a:solidFill>
                            <a:srgbClr val="1B7F3B"/>
                          </a:solidFill>
                          <a:latin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E7F5EC"/>
                    </a:solidFill>
                  </a:tcPr>
                </a:tc>
                <a:tc>
                  <a:txBody>
                    <a:bodyPr wrap="square" lIns="45720" rIns="45720" tIns="9144" bIns="9144" anchor="ctr"/>
                    <a:lstStyle/>
                    <a:p>
                      <a:pPr algn="l"/>
                      <a:r>
                        <a:rPr sz="7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지정 보안 특성 관련 감사 로그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1752" y="6601968"/>
            <a:ext cx="8503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6B707B"/>
                </a:solidFill>
                <a:latin typeface="맑은 고딕"/>
              </a:rPr>
              <a:t>★ = Microsoft 공식 '권한 있는 역할(Privileged role)' · 조합 = 범위(S/T) + 작업(R/W) + 민감 접근(N/P)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