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E2761"/>
                </a:solidFill>
                <a:latin typeface="맑은 고딕"/>
              </a:rPr>
              <a:t>Graph API 권한 신청서 (Full) — 작성 예시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603504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707B"/>
                </a:solidFill>
                <a:latin typeface="맑은 고딕"/>
              </a:rPr>
              <a:t>TC-1 : Application 신청이나 특정 공유사서함 한정 → Delegated 재판정 기대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60120"/>
          <a:ext cx="859536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148840"/>
                <a:gridCol w="1188720"/>
                <a:gridCol w="1234440"/>
                <a:gridCol w="1234440"/>
                <a:gridCol w="1371600"/>
              </a:tblGrid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과제명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OCR 포털 시스템 알람 메일링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요청자/부서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윤찬희 대리/DX 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과제개요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OCR 포털에서 발생하는 처리 결과/오류 알람을 배치로 취합하여 담당자에게 메일 발송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개발자/소속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김ㅇㅇ/메가존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*① 요청 API명/활용목적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Mail.Read : 특정 사서함을 통한 시스템 알람 메일링 목표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① Entra APP ID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OCR-Portal-PRD-DP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①활용 데이터/URL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없음 (M365 데이터가 아닌 별도 포털 데이터의 메일 발송 기능만 활용) / noreply-ocr 공유사서함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①Delegated/Application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Application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② API명/활용목적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② Entra APP ID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②활용 데이터/URL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②Delegated/Application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영향 범위/활용 규모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OCR포털을 사용하는 전체 사용자 / Daily 배치를 통한 개별 알림 메일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정보주체 인지/동의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전원 동의/인지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저장/2차 가공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공유사서함 noreply-ocr 1개만 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권한 만료일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~27.1.31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92608" y="3822191"/>
            <a:ext cx="85587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6B707B"/>
                </a:solidFill>
                <a:latin typeface="맑은 고딕"/>
              </a:rPr>
              <a:t>* ① 요청 API명/활용목적 : Microsoft Graph 공식 권한명 + ' : ' + 활용목적  (예: Mail.Read : 특정 공유사서함의 알람 메일 수신 처리)</a:t>
            </a:r>
          </a:p>
          <a:p>
            <a:r>
              <a:rPr sz="850">
                <a:solidFill>
                  <a:srgbClr val="6B707B"/>
                </a:solidFill>
                <a:latin typeface="맑은 고딕"/>
              </a:rPr>
              <a:t>* ①Delegated/Application : 로그인 사용자 권한 범위 내 사용이면 Delegated, 사용자 없이 앱 단독 실행이면 Application</a:t>
            </a:r>
          </a:p>
          <a:p>
            <a:r>
              <a:rPr sz="850">
                <a:solidFill>
                  <a:srgbClr val="6B707B"/>
                </a:solidFill>
                <a:latin typeface="맑은 고딕"/>
              </a:rPr>
              <a:t>* 특정 사서함/팀/사이트만 사용하는 경우 활용목적·활용데이터에 그 대상을 반드시 명시 (등급 하향 및 범위 제한 조치 근거)</a:t>
            </a:r>
          </a:p>
          <a:p>
            <a:r>
              <a:rPr sz="850">
                <a:solidFill>
                  <a:srgbClr val="6B707B"/>
                </a:solidFill>
                <a:latin typeface="맑은 고딕"/>
              </a:rPr>
              <a:t>* 권한 만료일은 필수 기재 (미기재 시 접수 보류). 최대 1년 이내 권장</a:t>
            </a:r>
          </a:p>
          <a:p>
            <a:r>
              <a:rPr sz="850">
                <a:solidFill>
                  <a:srgbClr val="6B707B"/>
                </a:solidFill>
                <a:latin typeface="맑은 고딕"/>
              </a:rPr>
              <a:t>* 하나의 과제에 복수의 API가 필요한 경우 ③④… 행을 추가하여 기입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