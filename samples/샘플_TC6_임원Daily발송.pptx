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8595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E2761"/>
                </a:solidFill>
                <a:latin typeface="맑은 고딕"/>
              </a:rPr>
              <a:t>Graph API 권한 신청서 (약식) — 작성 예시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2608" y="603504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6B707B"/>
                </a:solidFill>
                <a:latin typeface="맑은 고딕"/>
              </a:rPr>
              <a:t>TC-6 : 영향범위/규모 상향 요인 → G2에서 G3 상향 기대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960120"/>
          <a:ext cx="8595360" cy="19751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2148840"/>
                <a:gridCol w="1188720"/>
                <a:gridCol w="1234440"/>
                <a:gridCol w="1234440"/>
                <a:gridCol w="1371600"/>
              </a:tblGrid>
              <a:tr h="329184">
                <a:tc>
                  <a:txBody>
                    <a:bodyPr wrap="square" lIns="45720" rIns="45720" tIns="18288" bIns="18288" anchor="ctr"/>
                    <a:lstStyle/>
                    <a:p>
                      <a:pPr algn="l"/>
                      <a:r>
                        <a:rPr sz="900" b="1">
                          <a:solidFill>
                            <a:srgbClr val="1E2761"/>
                          </a:solidFill>
                          <a:latin typeface="맑은 고딕"/>
                        </a:rPr>
                        <a:t>과제명</a:t>
                      </a:r>
                    </a:p>
                  </a:txBody>
                  <a:tcPr>
                    <a:solidFill>
                      <a:srgbClr val="E8ECF6"/>
                    </a:solidFill>
                  </a:tcPr>
                </a:tc>
                <a:tc gridSpan="3">
                  <a:txBody>
                    <a:bodyPr wrap="square" lIns="45720" rIns="45720" tIns="18288" bIns="18288" anchor="ctr"/>
                    <a:lstStyle/>
                    <a:p>
                      <a:pPr algn="l"/>
                      <a:r>
                        <a:rPr sz="900" b="0">
                          <a:solidFill>
                            <a:srgbClr val="212121"/>
                          </a:solidFill>
                          <a:latin typeface="맑은 고딕"/>
                        </a:rPr>
                        <a:t>M365 활동지수 임원 리포트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wrap="square" lIns="45720" rIns="45720" tIns="18288" bIns="18288" anchor="ctr"/>
                    <a:lstStyle/>
                    <a:p>
                      <a:pPr algn="l"/>
                      <a:r>
                        <a:rPr sz="900" b="1">
                          <a:solidFill>
                            <a:srgbClr val="1E2761"/>
                          </a:solidFill>
                          <a:latin typeface="맑은 고딕"/>
                        </a:rPr>
                        <a:t>요청자/부서</a:t>
                      </a:r>
                    </a:p>
                  </a:txBody>
                  <a:tcPr>
                    <a:solidFill>
                      <a:srgbClr val="E8ECF6"/>
                    </a:solidFill>
                  </a:tcPr>
                </a:tc>
                <a:tc>
                  <a:txBody>
                    <a:bodyPr wrap="square" lIns="45720" rIns="45720" tIns="18288" bIns="18288" anchor="ctr"/>
                    <a:lstStyle/>
                    <a:p>
                      <a:pPr algn="l"/>
                      <a:r>
                        <a:rPr sz="900" b="0">
                          <a:solidFill>
                            <a:srgbClr val="212121"/>
                          </a:solidFill>
                          <a:latin typeface="맑은 고딕"/>
                        </a:rPr>
                        <a:t>강경현 차장/시스템운영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 lIns="45720" rIns="45720" tIns="18288" bIns="18288" anchor="ctr"/>
                    <a:lstStyle/>
                    <a:p>
                      <a:pPr algn="l"/>
                      <a:r>
                        <a:rPr sz="900" b="1">
                          <a:solidFill>
                            <a:srgbClr val="1E2761"/>
                          </a:solidFill>
                          <a:latin typeface="맑은 고딕"/>
                        </a:rPr>
                        <a:t>과제개요</a:t>
                      </a:r>
                    </a:p>
                  </a:txBody>
                  <a:tcPr>
                    <a:solidFill>
                      <a:srgbClr val="E8ECF6"/>
                    </a:solidFill>
                  </a:tcPr>
                </a:tc>
                <a:tc gridSpan="3">
                  <a:txBody>
                    <a:bodyPr wrap="square" lIns="45720" rIns="45720" tIns="18288" bIns="18288" anchor="ctr"/>
                    <a:lstStyle/>
                    <a:p>
                      <a:pPr algn="l"/>
                      <a:r>
                        <a:rPr sz="900" b="0">
                          <a:solidFill>
                            <a:srgbClr val="212121"/>
                          </a:solidFill>
                          <a:latin typeface="맑은 고딕"/>
                        </a:rPr>
                        <a:t>직책자의 M365 활동 지수를 소속 임원에게 일 단위로 메일 발송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wrap="square" lIns="45720" rIns="45720" tIns="18288" bIns="18288" anchor="ctr"/>
                    <a:lstStyle/>
                    <a:p>
                      <a:pPr algn="l"/>
                      <a:r>
                        <a:rPr sz="900" b="1">
                          <a:solidFill>
                            <a:srgbClr val="1E2761"/>
                          </a:solidFill>
                          <a:latin typeface="맑은 고딕"/>
                        </a:rPr>
                        <a:t>개발자/소속</a:t>
                      </a:r>
                    </a:p>
                  </a:txBody>
                  <a:tcPr>
                    <a:solidFill>
                      <a:srgbClr val="E8ECF6"/>
                    </a:solidFill>
                  </a:tcPr>
                </a:tc>
                <a:tc>
                  <a:txBody>
                    <a:bodyPr wrap="square" lIns="45720" rIns="45720" tIns="18288" bIns="18288" anchor="ctr"/>
                    <a:lstStyle/>
                    <a:p>
                      <a:pPr algn="l"/>
                      <a:r>
                        <a:rPr sz="900" b="0">
                          <a:solidFill>
                            <a:srgbClr val="212121"/>
                          </a:solidFill>
                          <a:latin typeface="맑은 고딕"/>
                        </a:rPr>
                        <a:t>한ㅇㅇ/사내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 lIns="45720" rIns="45720" tIns="18288" bIns="18288" anchor="ctr"/>
                    <a:lstStyle/>
                    <a:p>
                      <a:pPr algn="l"/>
                      <a:r>
                        <a:rPr sz="900" b="1">
                          <a:solidFill>
                            <a:srgbClr val="1E2761"/>
                          </a:solidFill>
                          <a:latin typeface="맑은 고딕"/>
                        </a:rPr>
                        <a:t>*① API명/활용목적</a:t>
                      </a:r>
                    </a:p>
                  </a:txBody>
                  <a:tcPr>
                    <a:solidFill>
                      <a:srgbClr val="E8ECF6"/>
                    </a:solidFill>
                  </a:tcPr>
                </a:tc>
                <a:tc gridSpan="3">
                  <a:txBody>
                    <a:bodyPr wrap="square" lIns="45720" rIns="45720" tIns="18288" bIns="18288" anchor="ctr"/>
                    <a:lstStyle/>
                    <a:p>
                      <a:pPr algn="l"/>
                      <a:r>
                        <a:rPr sz="900" b="0">
                          <a:solidFill>
                            <a:srgbClr val="212121"/>
                          </a:solidFill>
                          <a:latin typeface="맑은 고딕"/>
                        </a:rPr>
                        <a:t>User.Read.All : 직책자 프로필 및 조직 정보 조회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wrap="square" lIns="45720" rIns="45720" tIns="18288" bIns="18288" anchor="ctr"/>
                    <a:lstStyle/>
                    <a:p>
                      <a:pPr algn="l"/>
                      <a:r>
                        <a:rPr sz="900" b="1">
                          <a:solidFill>
                            <a:srgbClr val="1E2761"/>
                          </a:solidFill>
                          <a:latin typeface="맑은 고딕"/>
                        </a:rPr>
                        <a:t>①Delegated/Application</a:t>
                      </a:r>
                    </a:p>
                  </a:txBody>
                  <a:tcPr>
                    <a:solidFill>
                      <a:srgbClr val="E8ECF6"/>
                    </a:solidFill>
                  </a:tcPr>
                </a:tc>
                <a:tc>
                  <a:txBody>
                    <a:bodyPr wrap="square" lIns="45720" rIns="45720" tIns="18288" bIns="18288" anchor="ctr"/>
                    <a:lstStyle/>
                    <a:p>
                      <a:pPr algn="l"/>
                      <a:r>
                        <a:rPr sz="900" b="0">
                          <a:solidFill>
                            <a:srgbClr val="212121"/>
                          </a:solidFill>
                          <a:latin typeface="맑은 고딕"/>
                        </a:rPr>
                        <a:t>Application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 lIns="45720" rIns="45720" tIns="18288" bIns="18288" anchor="ctr"/>
                    <a:lstStyle/>
                    <a:p>
                      <a:pPr algn="l"/>
                      <a:r>
                        <a:rPr sz="900" b="1">
                          <a:solidFill>
                            <a:srgbClr val="1E2761"/>
                          </a:solidFill>
                          <a:latin typeface="맑은 고딕"/>
                        </a:rPr>
                        <a:t>①활용 데이터/URL</a:t>
                      </a:r>
                    </a:p>
                  </a:txBody>
                  <a:tcPr>
                    <a:solidFill>
                      <a:srgbClr val="E8ECF6"/>
                    </a:solidFill>
                  </a:tcPr>
                </a:tc>
                <a:tc gridSpan="3">
                  <a:txBody>
                    <a:bodyPr wrap="square" lIns="45720" rIns="45720" tIns="18288" bIns="18288" anchor="ctr"/>
                    <a:lstStyle/>
                    <a:p>
                      <a:pPr algn="l"/>
                      <a:r>
                        <a:rPr sz="900" b="0">
                          <a:solidFill>
                            <a:srgbClr val="212121"/>
                          </a:solidFill>
                          <a:latin typeface="맑은 고딕"/>
                        </a:rPr>
                        <a:t>표시이름, 부서, 직급, 상위조직 (전사 사용자 목록)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wrap="square" lIns="45720" rIns="45720" tIns="18288" bIns="18288" anchor="ctr"/>
                    <a:lstStyle/>
                    <a:p>
                      <a:pPr algn="l"/>
                      <a:r>
                        <a:rPr sz="900" b="1">
                          <a:solidFill>
                            <a:srgbClr val="1E2761"/>
                          </a:solidFill>
                          <a:latin typeface="맑은 고딕"/>
                        </a:rPr>
                        <a:t>①활용계정/App</a:t>
                      </a:r>
                    </a:p>
                  </a:txBody>
                  <a:tcPr>
                    <a:solidFill>
                      <a:srgbClr val="E8ECF6"/>
                    </a:solidFill>
                  </a:tcPr>
                </a:tc>
                <a:tc>
                  <a:txBody>
                    <a:bodyPr wrap="square" lIns="45720" rIns="45720" tIns="18288" bIns="18288" anchor="ctr"/>
                    <a:lstStyle/>
                    <a:p>
                      <a:pPr algn="l"/>
                      <a:r>
                        <a:rPr sz="900" b="0">
                          <a:solidFill>
                            <a:srgbClr val="212121"/>
                          </a:solidFill>
                          <a:latin typeface="맑은 고딕"/>
                        </a:rPr>
                        <a:t>전사 계정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 lIns="45720" rIns="45720" tIns="18288" bIns="18288" anchor="ctr"/>
                    <a:lstStyle/>
                    <a:p>
                      <a:pPr algn="l"/>
                      <a:r>
                        <a:rPr sz="900" b="1">
                          <a:solidFill>
                            <a:srgbClr val="1E2761"/>
                          </a:solidFill>
                          <a:latin typeface="맑은 고딕"/>
                        </a:rPr>
                        <a:t>영향 범위/활용 규모</a:t>
                      </a:r>
                    </a:p>
                  </a:txBody>
                  <a:tcPr>
                    <a:solidFill>
                      <a:srgbClr val="E8ECF6"/>
                    </a:solidFill>
                  </a:tcPr>
                </a:tc>
                <a:tc>
                  <a:txBody>
                    <a:bodyPr wrap="square" lIns="45720" rIns="45720" tIns="18288" bIns="18288" anchor="ctr"/>
                    <a:lstStyle/>
                    <a:p>
                      <a:pPr algn="l"/>
                      <a:r>
                        <a:rPr sz="900" b="0">
                          <a:solidFill>
                            <a:srgbClr val="212121"/>
                          </a:solidFill>
                          <a:latin typeface="맑은 고딕"/>
                        </a:rPr>
                        <a:t>직책자 전원의 활동 지수를 소속 임원에게 Daily 메일 발송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18288" bIns="18288" anchor="ctr"/>
                    <a:lstStyle/>
                    <a:p>
                      <a:pPr algn="l"/>
                      <a:r>
                        <a:rPr sz="900" b="1">
                          <a:solidFill>
                            <a:srgbClr val="1E2761"/>
                          </a:solidFill>
                          <a:latin typeface="맑은 고딕"/>
                        </a:rPr>
                        <a:t>정보주체 인지/동의</a:t>
                      </a:r>
                    </a:p>
                  </a:txBody>
                  <a:tcPr>
                    <a:solidFill>
                      <a:srgbClr val="E8ECF6"/>
                    </a:solidFill>
                  </a:tcPr>
                </a:tc>
                <a:tc>
                  <a:txBody>
                    <a:bodyPr wrap="square" lIns="45720" rIns="45720" tIns="18288" bIns="18288" anchor="ctr"/>
                    <a:lstStyle/>
                    <a:p>
                      <a:pPr algn="l"/>
                      <a:r>
                        <a:rPr sz="900" b="0">
                          <a:solidFill>
                            <a:srgbClr val="212121"/>
                          </a:solidFill>
                          <a:latin typeface="맑은 고딕"/>
                        </a:rPr>
                        <a:t>미정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18288" bIns="18288" anchor="ctr"/>
                    <a:lstStyle/>
                    <a:p>
                      <a:pPr algn="l"/>
                      <a:r>
                        <a:rPr sz="900" b="1">
                          <a:solidFill>
                            <a:srgbClr val="1E2761"/>
                          </a:solidFill>
                          <a:latin typeface="맑은 고딕"/>
                        </a:rPr>
                        <a:t>저장/2차 가공</a:t>
                      </a:r>
                    </a:p>
                  </a:txBody>
                  <a:tcPr>
                    <a:solidFill>
                      <a:srgbClr val="E8ECF6"/>
                    </a:solidFill>
                  </a:tcPr>
                </a:tc>
                <a:tc>
                  <a:txBody>
                    <a:bodyPr wrap="square" lIns="45720" rIns="45720" tIns="18288" bIns="18288" anchor="ctr"/>
                    <a:lstStyle/>
                    <a:p>
                      <a:pPr algn="l"/>
                      <a:r>
                        <a:rPr sz="900" b="0">
                          <a:solidFill>
                            <a:srgbClr val="212121"/>
                          </a:solidFill>
                          <a:latin typeface="맑은 고딕"/>
                        </a:rPr>
                        <a:t>집계 결과 SharePoint 리스트 적재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 lIns="45720" rIns="45720" tIns="18288" bIns="18288" anchor="ctr"/>
                    <a:lstStyle/>
                    <a:p>
                      <a:pPr algn="l"/>
                      <a:r>
                        <a:rPr sz="900" b="1">
                          <a:solidFill>
                            <a:srgbClr val="1E2761"/>
                          </a:solidFill>
                          <a:latin typeface="맑은 고딕"/>
                        </a:rPr>
                        <a:t>*비고</a:t>
                      </a:r>
                    </a:p>
                  </a:txBody>
                  <a:tcPr>
                    <a:solidFill>
                      <a:srgbClr val="E8ECF6"/>
                    </a:solidFill>
                  </a:tcPr>
                </a:tc>
                <a:tc gridSpan="3">
                  <a:txBody>
                    <a:bodyPr wrap="square" lIns="45720" rIns="45720" tIns="18288" bIns="18288" anchor="ctr"/>
                    <a:lstStyle/>
                    <a:p>
                      <a:pPr algn="l"/>
                      <a:r>
                        <a:rPr sz="900" b="0">
                          <a:solidFill>
                            <a:srgbClr val="212121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wrap="square" lIns="45720" rIns="45720" tIns="18288" bIns="18288" anchor="ctr"/>
                    <a:lstStyle/>
                    <a:p>
                      <a:pPr algn="l"/>
                      <a:r>
                        <a:rPr sz="900" b="1">
                          <a:solidFill>
                            <a:srgbClr val="1E2761"/>
                          </a:solidFill>
                          <a:latin typeface="맑은 고딕"/>
                        </a:rPr>
                        <a:t>권한 만료일</a:t>
                      </a:r>
                    </a:p>
                  </a:txBody>
                  <a:tcPr>
                    <a:solidFill>
                      <a:srgbClr val="E8ECF6"/>
                    </a:solidFill>
                  </a:tcPr>
                </a:tc>
                <a:tc>
                  <a:txBody>
                    <a:bodyPr wrap="square" lIns="45720" rIns="45720" tIns="18288" bIns="18288" anchor="ctr"/>
                    <a:lstStyle/>
                    <a:p>
                      <a:pPr algn="l"/>
                      <a:r>
                        <a:rPr sz="900" b="0">
                          <a:solidFill>
                            <a:srgbClr val="212121"/>
                          </a:solidFill>
                          <a:latin typeface="맑은 고딕"/>
                        </a:rPr>
                        <a:t>2027-03-31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92608" y="3163824"/>
            <a:ext cx="8558784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6B707B"/>
                </a:solidFill>
                <a:latin typeface="맑은 고딕"/>
              </a:rPr>
              <a:t>* IT Request 접수 시 기입 항목 : 권한 사용 App, Graph API명, 필요 데이터 필드, 활용 목적, 비고</a:t>
            </a:r>
          </a:p>
          <a:p>
            <a:r>
              <a:rPr sz="850">
                <a:solidFill>
                  <a:srgbClr val="6B707B"/>
                </a:solidFill>
                <a:latin typeface="맑은 고딕"/>
              </a:rPr>
              <a:t>* ①활용계정/App : 실제 데이터를 읽거나 쓰는 대상 계정·사서함·사이트·팀을 구체적으로 기재</a:t>
            </a:r>
          </a:p>
          <a:p>
            <a:r>
              <a:rPr sz="850">
                <a:solidFill>
                  <a:srgbClr val="6B707B"/>
                </a:solidFill>
                <a:latin typeface="맑은 고딕"/>
              </a:rPr>
              <a:t>* 저장/2차 가공 : 저장하지 않으면 'N/A', 저장 시 저장위치·보관기간·2차 활용범위를 함께 기재</a:t>
            </a:r>
          </a:p>
          <a:p>
            <a:r>
              <a:rPr sz="850">
                <a:solidFill>
                  <a:srgbClr val="6B707B"/>
                </a:solidFill>
                <a:latin typeface="맑은 고딕"/>
              </a:rPr>
              <a:t>* 하나의 과제에 복수의 API가 필요한 경우 행을 추가하여 기입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